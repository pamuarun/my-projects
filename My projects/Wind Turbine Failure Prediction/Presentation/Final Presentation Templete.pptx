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97" r:id="rId2"/>
    <p:sldId id="258" r:id="rId3"/>
    <p:sldId id="260" r:id="rId4"/>
    <p:sldId id="262" r:id="rId5"/>
    <p:sldId id="298" r:id="rId6"/>
    <p:sldId id="261" r:id="rId7"/>
    <p:sldId id="299" r:id="rId8"/>
    <p:sldId id="269" r:id="rId9"/>
    <p:sldId id="274" r:id="rId10"/>
    <p:sldId id="277" r:id="rId11"/>
    <p:sldId id="279" r:id="rId12"/>
    <p:sldId id="300" r:id="rId13"/>
    <p:sldId id="296" r:id="rId14"/>
  </p:sldIdLst>
  <p:sldSz cx="12192000" cy="6858000"/>
  <p:notesSz cx="6858000" cy="9144000"/>
  <p:embeddedFontLst>
    <p:embeddedFont>
      <p:font typeface="Georgia" panose="02040502050405020303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zPzfW/Eqj5INjXEMP3JF+w7YJ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2D7396-3E8A-4C48-A43C-EBEA59809495}">
  <a:tblStyle styleId="{2C2D7396-3E8A-4C48-A43C-EBEA598094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137" name="Google Shape;137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303" name="Google Shape;30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321" name="Google Shape;32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7" name="Google Shape;48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6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f3a8d4be09_2_86"/>
          <p:cNvSpPr/>
          <p:nvPr/>
        </p:nvSpPr>
        <p:spPr>
          <a:xfrm>
            <a:off x="0" y="3"/>
            <a:ext cx="12192000" cy="8193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gf3a8d4be09_2_86"/>
          <p:cNvCxnSpPr/>
          <p:nvPr/>
        </p:nvCxnSpPr>
        <p:spPr>
          <a:xfrm>
            <a:off x="0" y="6457951"/>
            <a:ext cx="960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>
            <a:spLocks noGrp="1"/>
          </p:cNvSpPr>
          <p:nvPr>
            <p:ph type="title"/>
          </p:nvPr>
        </p:nvSpPr>
        <p:spPr>
          <a:xfrm>
            <a:off x="831851" y="17097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hyperlink" Target="https://www.linkedin.com/in/sharat-chandra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Predictive Maintenance for Wind Turbine Failure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500" y="1284727"/>
            <a:ext cx="10832592" cy="4969956"/>
          </a:xfrm>
        </p:spPr>
        <p:txBody>
          <a:bodyPr/>
          <a:lstStyle/>
          <a:p>
            <a:r>
              <a:rPr lang="en-US" sz="3200" dirty="0"/>
              <a:t>This presentation outlines a data-driven approach to optimize wind turbine reliability and minimize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unplanned failures of wind turbine engines</a:t>
            </a:r>
            <a:r>
              <a:rPr lang="en-US" sz="3200" dirty="0"/>
              <a:t>.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             </a:t>
            </a:r>
          </a:p>
        </p:txBody>
      </p:sp>
      <p:pic>
        <p:nvPicPr>
          <p:cNvPr id="5" name="Google Shape;9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545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59B5B5-4EEE-A298-B7FE-D59938E26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299" y="2646866"/>
            <a:ext cx="4397285" cy="399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31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xfrm>
            <a:off x="242944" y="192204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675" rIns="91425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Project Leadership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242944" y="860611"/>
            <a:ext cx="35376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5533" y="6151968"/>
            <a:ext cx="2276467" cy="706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400" y="1329459"/>
            <a:ext cx="1372825" cy="1353769"/>
          </a:xfrm>
          <a:prstGeom prst="ellipse">
            <a:avLst/>
          </a:prstGeom>
          <a:noFill/>
          <a:ln w="6350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176"/>
              </a:srgbClr>
            </a:outerShdw>
          </a:effectLst>
        </p:spPr>
      </p:pic>
      <p:sp>
        <p:nvSpPr>
          <p:cNvPr id="118" name="Google Shape;118;p4"/>
          <p:cNvSpPr/>
          <p:nvPr/>
        </p:nvSpPr>
        <p:spPr>
          <a:xfrm>
            <a:off x="2035714" y="1463041"/>
            <a:ext cx="4012389" cy="11070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875" tIns="60925" rIns="121875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Sharat Manikonda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 at Innodatatics and Sponsor</a:t>
            </a:r>
            <a:endParaRPr sz="19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strike="noStrike" cap="none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linkedin.com/in/sharat-chandra</a:t>
            </a:r>
            <a:endParaRPr sz="1400" b="1" i="0" u="none" strike="noStrike" cap="none">
              <a:solidFill>
                <a:srgbClr val="2E75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545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f3a8d4be09_2_180"/>
          <p:cNvSpPr txBox="1">
            <a:spLocks noGrp="1"/>
          </p:cNvSpPr>
          <p:nvPr>
            <p:ph type="title"/>
          </p:nvPr>
        </p:nvSpPr>
        <p:spPr>
          <a:xfrm>
            <a:off x="163275" y="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f3a8d4be09_2_180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2" name="Google Shape;142;gf3a8d4be09_2_180"/>
          <p:cNvSpPr txBox="1"/>
          <p:nvPr/>
        </p:nvSpPr>
        <p:spPr>
          <a:xfrm>
            <a:off x="383125" y="1149375"/>
            <a:ext cx="11034000" cy="284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Constraints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and details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110" y="5945834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>
            <a:spLocks noGrp="1"/>
          </p:cNvSpPr>
          <p:nvPr>
            <p:ph type="title"/>
          </p:nvPr>
        </p:nvSpPr>
        <p:spPr>
          <a:xfrm>
            <a:off x="737616" y="145549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17A16-4BF2-9E28-F1B6-185E8826E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1035"/>
            <a:ext cx="11353800" cy="603141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Unplanned failures of wind turbine engines are causing significant losses and disruptions in electricity generation.</a:t>
            </a:r>
          </a:p>
          <a:p>
            <a:pPr marL="114300" indent="0">
              <a:buNone/>
            </a:pPr>
            <a:endParaRPr lang="en-US" sz="18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" indent="0">
              <a:buNone/>
            </a:pPr>
            <a:endParaRPr lang="en-US" sz="18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Unplanned failures of wind turbine engines are causing significant losses and disruptions in electricity generation.</a:t>
            </a:r>
          </a:p>
          <a:p>
            <a:pPr marL="114300" indent="0">
              <a:buNone/>
            </a:pPr>
            <a:endParaRPr lang="en-US" sz="1800" b="1" dirty="0">
              <a:latin typeface="Times New Roman"/>
              <a:ea typeface="Arial" panose="020B0604020202020204" pitchFamily="34" charset="0"/>
              <a:cs typeface="Times New Roman"/>
              <a:sym typeface="Times New Roman"/>
            </a:endParaRPr>
          </a:p>
          <a:p>
            <a:pPr marL="114300" indent="0">
              <a:buNone/>
            </a:pPr>
            <a:endParaRPr lang="en-US" sz="1800" b="1" dirty="0">
              <a:latin typeface="Times New Roman"/>
              <a:ea typeface="Arial" panose="020B0604020202020204" pitchFamily="34" charset="0"/>
              <a:cs typeface="Times New Roman"/>
              <a:sym typeface="Times New Roman"/>
            </a:endParaRPr>
          </a:p>
          <a:p>
            <a:pPr marL="114300" indent="0">
              <a:buNone/>
            </a:pPr>
            <a:endParaRPr lang="en-US" sz="1800" b="1" dirty="0">
              <a:latin typeface="Times New Roman"/>
              <a:ea typeface="Arial" panose="020B0604020202020204" pitchFamily="34" charset="0"/>
              <a:cs typeface="Times New Roman"/>
              <a:sym typeface="Times New Roman"/>
            </a:endParaRPr>
          </a:p>
          <a:p>
            <a:pPr marL="114300" indent="0"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Business Constraint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Maximize power generation during the process of reducing failures.</a:t>
            </a:r>
            <a:endParaRPr lang="en-US" sz="3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5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545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A27299-CD46-2A2B-582D-43F4B3F2C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917" y="3140324"/>
            <a:ext cx="1332294" cy="13322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29EA63-9A77-E0B4-8393-5CFBFEED5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959" y="4844671"/>
            <a:ext cx="1332294" cy="13322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2DB604-6F7C-959F-500A-83F316A6F9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4430" y="1067874"/>
            <a:ext cx="1332294" cy="13322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644A-0B15-9EF1-86F9-021F738D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6341B-1DDE-E5C8-A72A-01259236A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9DB78-3C6A-5492-D437-0DBF6577C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936324" cy="42346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28767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Project Overview 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f3a8d4be09_2_92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0" name="Google Shape;150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f3a8d4be09_2_92"/>
          <p:cNvSpPr txBox="1"/>
          <p:nvPr/>
        </p:nvSpPr>
        <p:spPr>
          <a:xfrm>
            <a:off x="6053425" y="2493975"/>
            <a:ext cx="34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f3a8d4be09_2_92"/>
          <p:cNvSpPr txBox="1"/>
          <p:nvPr/>
        </p:nvSpPr>
        <p:spPr>
          <a:xfrm>
            <a:off x="5938500" y="3792975"/>
            <a:ext cx="327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545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4F863A3-475A-B459-746D-B4691F7952F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5158" y="1000758"/>
            <a:ext cx="1208684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Problem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Unplanned failures in wind turbine engines result in high operational costs, extended downtimes, and reduced power generation efficiency.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advanced data analytics to uncover patterns and insights from  data, enabling early detection of turbine failure risks and data-driven maintenance strategies.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Exploratory Data Analysis (EDA) to identify trends, anomalies, and failure triggers.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statistical and visualization techniques to highlight correlations between variables such as rotor speed, temperatures, and failure events.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interactive dashboard for stakeholders to monitor performance and detect high-risk periods.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Outcome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turbine failure rates by at least 30%.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proactive maintenance, minimizing unplanned downtime.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$2M annually by improving operational efficiency and lowering maintenance costs.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85896-B473-DF5C-CAC7-1D639A6FA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198" y="4549116"/>
            <a:ext cx="1602351" cy="16023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76A5-C940-208B-B44F-AC82DF4CC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F75A3F-75D1-C28F-74E3-720CC1BD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0" y="727571"/>
            <a:ext cx="3473623" cy="18013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EC84EB-19CC-A0BF-B12C-F7D5508F3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847" y="765976"/>
            <a:ext cx="3367057" cy="18846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B014ED-3FED-CB97-4DB3-22FE4052B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769" y="798621"/>
            <a:ext cx="3364776" cy="20175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24595B-9A42-E64E-C5A4-EADB7770C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67" y="3403715"/>
            <a:ext cx="3657600" cy="19110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3423E8A7-73CE-6939-4F2D-52C172C7F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75" y="2283603"/>
            <a:ext cx="479766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Handle missing values, outliers, and ensure data readiness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25A49C0-49C6-1A86-0831-3EDFB711B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146" y="2479351"/>
            <a:ext cx="376829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Identify trends in turbine performance and failure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F87AF7-3082-5CD5-94AC-938961EE7855}"/>
              </a:ext>
            </a:extLst>
          </p:cNvPr>
          <p:cNvSpPr txBox="1"/>
          <p:nvPr/>
        </p:nvSpPr>
        <p:spPr>
          <a:xfrm>
            <a:off x="8230443" y="2873985"/>
            <a:ext cx="40499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Develop interactive charts (e.g., heatmaps, line charts, bar charts) to communicate findings effectively.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86922-7CCE-22F0-CFB1-F9B747283382}"/>
              </a:ext>
            </a:extLst>
          </p:cNvPr>
          <p:cNvSpPr txBox="1"/>
          <p:nvPr/>
        </p:nvSpPr>
        <p:spPr>
          <a:xfrm>
            <a:off x="6540135" y="5500941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Summarize key findings and actionable recommendations for stakeholders.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F83768-9A62-0A84-5B35-FAE143DDF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20" y="3243317"/>
            <a:ext cx="3715165" cy="20803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5D62BC7D-C8ED-0B9A-ADEC-126D3626F40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120" y="5269944"/>
            <a:ext cx="55138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Create a Power BI dashboard for real-time monitoring of turbine health and key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450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919" y="5896947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DE59C9-62EC-AF46-C101-C60437900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918109"/>
            <a:ext cx="11682366" cy="480055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>
            <a:spLocks noGrp="1"/>
          </p:cNvSpPr>
          <p:nvPr>
            <p:ph type="title"/>
          </p:nvPr>
        </p:nvSpPr>
        <p:spPr>
          <a:xfrm>
            <a:off x="248194" y="147682"/>
            <a:ext cx="924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Exploratory Data Analysis [EDA]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5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09600" y="1181100"/>
            <a:ext cx="19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3238500" y="2076450"/>
            <a:ext cx="899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6267450" y="1428750"/>
            <a:ext cx="596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4686300" y="4057650"/>
            <a:ext cx="754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191575" y="4750800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545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48353E-61DC-EBE4-1EF2-17BC97271B5E}"/>
              </a:ext>
            </a:extLst>
          </p:cNvPr>
          <p:cNvSpPr txBox="1"/>
          <p:nvPr/>
        </p:nvSpPr>
        <p:spPr>
          <a:xfrm>
            <a:off x="28159" y="985262"/>
            <a:ext cx="1200042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Steps Performed</a:t>
            </a:r>
            <a:r>
              <a:rPr lang="en-US" sz="2000" dirty="0"/>
              <a:t>:</a:t>
            </a:r>
          </a:p>
          <a:p>
            <a:r>
              <a:rPr lang="en-US" sz="1800" b="1" dirty="0"/>
              <a:t> </a:t>
            </a:r>
          </a:p>
          <a:p>
            <a:r>
              <a:rPr lang="en-US" sz="2000" b="1" dirty="0"/>
              <a:t>1.</a:t>
            </a:r>
            <a:r>
              <a:rPr lang="en-US" sz="1800" b="1" dirty="0"/>
              <a:t> </a:t>
            </a:r>
            <a:r>
              <a:rPr lang="en-US" sz="2000" b="1" dirty="0"/>
              <a:t>Data Overview</a:t>
            </a:r>
            <a:r>
              <a:rPr lang="en-US" sz="20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Checked dataset shape, column data types, and null values.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Summarized statistics for all numerical columns (e.g., mean, median, variance).</a:t>
            </a:r>
          </a:p>
          <a:p>
            <a:pPr marL="457200" lvl="1"/>
            <a:endParaRPr lang="en-US" sz="1800" dirty="0"/>
          </a:p>
          <a:p>
            <a:r>
              <a:rPr lang="en-US" sz="2000" b="1" dirty="0"/>
              <a:t>2. Visualization</a:t>
            </a:r>
            <a:r>
              <a:rPr lang="en-US" sz="20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Histograms</a:t>
            </a:r>
            <a:r>
              <a:rPr lang="en-US" sz="1800" dirty="0"/>
              <a:t>: Analyzed the distribution of numerical variables (e.g., Wind Speed, Power).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Boxplots</a:t>
            </a:r>
            <a:r>
              <a:rPr lang="en-US" sz="1800" dirty="0"/>
              <a:t>: Identified outliers in each numerical column.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Correlation Matrix</a:t>
            </a:r>
            <a:r>
              <a:rPr lang="en-US" sz="1800" dirty="0"/>
              <a:t>: Visualized relationships between variables (e.g., Rotor Speed and Power).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Count Plots</a:t>
            </a:r>
            <a:r>
              <a:rPr lang="en-US" sz="1800" dirty="0"/>
              <a:t>: Displayed failure vs. no-failure distribution.</a:t>
            </a:r>
          </a:p>
          <a:p>
            <a:pPr marL="457200" lvl="1"/>
            <a:endParaRPr lang="en-US" sz="1800" dirty="0"/>
          </a:p>
          <a:p>
            <a:r>
              <a:rPr lang="en-US" sz="2000" b="1" dirty="0"/>
              <a:t>3. Time-Series Analysis</a:t>
            </a:r>
            <a:r>
              <a:rPr lang="en-US" sz="20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Used lag plots to identify patterns over time.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Checked stationarity of numerical variables using the Augmented Dickey-Fuller (ADF) test.</a:t>
            </a:r>
          </a:p>
          <a:p>
            <a:pPr marL="457200" lvl="1"/>
            <a:endParaRPr lang="en-US" sz="1800" dirty="0"/>
          </a:p>
          <a:p>
            <a:r>
              <a:rPr lang="en-US" sz="2000" b="1" dirty="0"/>
              <a:t>4. Business Insights</a:t>
            </a:r>
            <a:r>
              <a:rPr lang="en-US" sz="20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dirty="0"/>
              <a:t>Correlation analysis showed which metrics impact failures (e.g., high temperatures or low rotor speeds).</a:t>
            </a:r>
          </a:p>
          <a:p>
            <a:pPr>
              <a:buFont typeface="+mj-lt"/>
              <a:buAutoNum type="arabicPeriod"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74965-52BA-5D61-B795-A97282114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743" y="857451"/>
            <a:ext cx="2616098" cy="2616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876300" y="14287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545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8B61A8-FB48-7FEA-5AA6-5DDE4E787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2" y="823835"/>
            <a:ext cx="12111135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 Performed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Imputed missing values in numerical columns using their mean.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 Treatment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Winsorization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(IQR method) to cap extreme values in numerical variables.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Removal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and dropped duplicate rows to avoid redundant analysis.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cleaned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winsorized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for further visualization in Power BI.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numerical columns (e.g., Wind Speed, Power, Rotor Speed)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have zero mean and unit variance, ensuring consistent data ranges for clustering and visualization.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Exported Final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Saved the processed dataset </a:t>
            </a:r>
            <a:r>
              <a:rPr lang="en-US" sz="1800" dirty="0"/>
              <a:t>for loading into Power BI</a:t>
            </a:r>
            <a:r>
              <a:rPr lang="en-US" sz="2400" dirty="0"/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5F755-AA82-5D1E-954F-1B68F150E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985" y="1637007"/>
            <a:ext cx="2514370" cy="2514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Visualizations</a:t>
            </a:r>
            <a:endParaRPr dirty="0"/>
          </a:p>
        </p:txBody>
      </p:sp>
      <p:sp>
        <p:nvSpPr>
          <p:cNvPr id="325" name="Google Shape;325;p32"/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 txBox="1"/>
          <p:nvPr/>
        </p:nvSpPr>
        <p:spPr>
          <a:xfrm>
            <a:off x="287350" y="1245175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545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0848FC-07F0-BE2E-C34C-4D50E06FF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5" y="896108"/>
            <a:ext cx="3401567" cy="24597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CEAC83-FC8A-7EBC-4C20-16C64B75E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917" y="896109"/>
            <a:ext cx="4229787" cy="24597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CA70C8-F15A-E244-E63D-BC190EE700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469" y="896109"/>
            <a:ext cx="3913481" cy="24597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0EE03C-2413-E2A3-9AFD-7E6635520F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33" y="3619292"/>
            <a:ext cx="3401567" cy="271241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7E2FE-410E-4E31-48CB-D0CFF610A0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9288" y="3619291"/>
            <a:ext cx="4219416" cy="279745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A0B90D-E191-8387-A8E9-C842D94788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6992" y="3592475"/>
            <a:ext cx="3901592" cy="273922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EA1D-BC12-7B30-6436-8B79D258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-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309A9C-979A-7B72-6441-BDE90020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48" y="951282"/>
            <a:ext cx="9979152" cy="55880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507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91" name="Google Shape;491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5" y="272435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360DigiTMG Reviews - 52 Reviews of 360digitmg.com | Sitejabb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3552" y="5952931"/>
            <a:ext cx="2277039" cy="80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633</Words>
  <Application>Microsoft Office PowerPoint</Application>
  <PresentationFormat>Widescreen</PresentationFormat>
  <Paragraphs>103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Wingdings</vt:lpstr>
      <vt:lpstr>Times New Roman</vt:lpstr>
      <vt:lpstr>Arial</vt:lpstr>
      <vt:lpstr>Calibri</vt:lpstr>
      <vt:lpstr>Georgia</vt:lpstr>
      <vt:lpstr>Office Theme</vt:lpstr>
      <vt:lpstr>Predictive Maintenance for Wind Turbine Failure </vt:lpstr>
      <vt:lpstr>Project Leadership</vt:lpstr>
      <vt:lpstr>Contents</vt:lpstr>
      <vt:lpstr>Business Problem</vt:lpstr>
      <vt:lpstr>Project Architecture</vt:lpstr>
      <vt:lpstr>Project Overview </vt:lpstr>
      <vt:lpstr>Project Scope</vt:lpstr>
      <vt:lpstr>Data Dictionary </vt:lpstr>
      <vt:lpstr>Exploratory Data Analysis [EDA]</vt:lpstr>
      <vt:lpstr>Data Preprocessing</vt:lpstr>
      <vt:lpstr>Data Visualizations</vt:lpstr>
      <vt:lpstr>Power BI - 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BARTHWAL</dc:creator>
  <cp:lastModifiedBy>Arun Teja P</cp:lastModifiedBy>
  <cp:revision>5</cp:revision>
  <dcterms:created xsi:type="dcterms:W3CDTF">2022-02-16T01:47:29Z</dcterms:created>
  <dcterms:modified xsi:type="dcterms:W3CDTF">2025-01-24T16:01:38Z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